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69" r:id="rId1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90" y="-6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22B2A-A997-4C57-B971-8379110632D3}" type="datetimeFigureOut">
              <a:rPr lang="tr-TR" smtClean="0"/>
              <a:t>18.05.2012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6EDC2-1FF8-48C7-8448-BCB6AC00D779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188913"/>
            <a:ext cx="7772400" cy="2016125"/>
          </a:xfrm>
        </p:spPr>
        <p:txBody>
          <a:bodyPr/>
          <a:lstStyle/>
          <a:p>
            <a:pPr algn="ctr" eaLnBrk="1" hangingPunct="1">
              <a:lnSpc>
                <a:spcPct val="150000"/>
              </a:lnSpc>
            </a:pPr>
            <a:r>
              <a:rPr lang="tr-TR" sz="3600" b="1" smtClean="0">
                <a:solidFill>
                  <a:schemeClr val="accent2"/>
                </a:solidFill>
              </a:rPr>
              <a:t/>
            </a:r>
            <a:br>
              <a:rPr lang="tr-TR" sz="3600" b="1" smtClean="0">
                <a:solidFill>
                  <a:schemeClr val="accent2"/>
                </a:solidFill>
              </a:rPr>
            </a:br>
            <a:r>
              <a:rPr lang="tr-TR" sz="3600" b="1" smtClean="0">
                <a:solidFill>
                  <a:schemeClr val="accent2"/>
                </a:solidFill>
              </a:rPr>
              <a:t>ENFEKSİYONLARDAN KORUNMA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39752" y="3573016"/>
            <a:ext cx="5903912" cy="2808288"/>
          </a:xfrm>
        </p:spPr>
        <p:txBody>
          <a:bodyPr/>
          <a:lstStyle/>
          <a:p>
            <a:pPr algn="ctr" eaLnBrk="1" hangingPunct="1">
              <a:lnSpc>
                <a:spcPct val="150000"/>
              </a:lnSpc>
            </a:pPr>
            <a:r>
              <a:rPr lang="tr-TR" sz="1900" b="1" dirty="0" smtClean="0">
                <a:solidFill>
                  <a:schemeClr val="accent2"/>
                </a:solidFill>
              </a:rPr>
              <a:t>HASTA ve HASTA YAKINLARINA YÖNELİK </a:t>
            </a:r>
            <a:endParaRPr lang="tr-TR" sz="1900" b="1" dirty="0" smtClean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150000"/>
              </a:lnSpc>
            </a:pPr>
            <a:r>
              <a:rPr lang="tr-TR" sz="1900" b="1" dirty="0" smtClean="0">
                <a:solidFill>
                  <a:schemeClr val="accent2"/>
                </a:solidFill>
              </a:rPr>
              <a:t>BİLGİLENDİRME </a:t>
            </a:r>
            <a:r>
              <a:rPr lang="tr-TR" sz="1900" b="1" dirty="0" smtClean="0">
                <a:solidFill>
                  <a:schemeClr val="accent2"/>
                </a:solidFill>
              </a:rPr>
              <a:t>TOPLANTISI</a:t>
            </a:r>
            <a:endParaRPr lang="en-US" sz="1900" b="1" dirty="0" smtClean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80000"/>
              </a:lnSpc>
            </a:pPr>
            <a:endParaRPr lang="en-US" sz="1600" b="1" dirty="0" smtClean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80000"/>
              </a:lnSpc>
            </a:pPr>
            <a:endParaRPr lang="en-US" sz="1600" b="1" dirty="0" smtClean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80000"/>
              </a:lnSpc>
            </a:pPr>
            <a:r>
              <a:rPr lang="tr-TR" sz="1600" b="1" dirty="0" smtClean="0">
                <a:solidFill>
                  <a:schemeClr val="accent2"/>
                </a:solidFill>
              </a:rPr>
              <a:t>Prof </a:t>
            </a:r>
            <a:r>
              <a:rPr lang="tr-TR" sz="1600" b="1" dirty="0" smtClean="0">
                <a:solidFill>
                  <a:schemeClr val="accent2"/>
                </a:solidFill>
              </a:rPr>
              <a:t>Dr Alpay AZAP</a:t>
            </a:r>
          </a:p>
          <a:p>
            <a:pPr algn="ctr" eaLnBrk="1" hangingPunct="1">
              <a:lnSpc>
                <a:spcPct val="80000"/>
              </a:lnSpc>
            </a:pPr>
            <a:r>
              <a:rPr lang="tr-TR" sz="1600" b="1" dirty="0" smtClean="0">
                <a:solidFill>
                  <a:schemeClr val="accent2"/>
                </a:solidFill>
              </a:rPr>
              <a:t>Ankara Üniversitesi Tıp Fakültesi</a:t>
            </a:r>
          </a:p>
          <a:p>
            <a:pPr algn="ctr" eaLnBrk="1" hangingPunct="1">
              <a:lnSpc>
                <a:spcPct val="80000"/>
              </a:lnSpc>
            </a:pPr>
            <a:r>
              <a:rPr lang="tr-TR" sz="1600" b="1" dirty="0" smtClean="0">
                <a:solidFill>
                  <a:schemeClr val="accent2"/>
                </a:solidFill>
              </a:rPr>
              <a:t>Enfeksiyon Hastalıkları ve Klinik Mikrobiyoloji AD</a:t>
            </a:r>
          </a:p>
          <a:p>
            <a:pPr algn="ctr" eaLnBrk="1" hangingPunct="1">
              <a:lnSpc>
                <a:spcPct val="80000"/>
              </a:lnSpc>
            </a:pPr>
            <a:r>
              <a:rPr lang="tr-TR" sz="1600" b="1" dirty="0" smtClean="0">
                <a:solidFill>
                  <a:schemeClr val="accent2"/>
                </a:solidFill>
              </a:rPr>
              <a:t>Ankara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pPr eaLnBrk="1" hangingPunct="1"/>
            <a:r>
              <a:rPr lang="tr-TR" dirty="0" smtClean="0">
                <a:solidFill>
                  <a:srgbClr val="FF0000"/>
                </a:solidFill>
              </a:rPr>
              <a:t>EL YIKAMA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017" y="1124744"/>
            <a:ext cx="8677471" cy="5472608"/>
          </a:xfrm>
        </p:spPr>
        <p:txBody>
          <a:bodyPr lIns="180000">
            <a:noAutofit/>
          </a:bodyPr>
          <a:lstStyle/>
          <a:p>
            <a:pPr eaLnBrk="1" hangingPunct="1">
              <a:lnSpc>
                <a:spcPts val="4000"/>
              </a:lnSpc>
            </a:pPr>
            <a:r>
              <a:rPr lang="tr-TR" sz="2400" dirty="0" smtClean="0"/>
              <a:t>Enfeksiyonlardan korunmanın </a:t>
            </a:r>
            <a:r>
              <a:rPr lang="tr-TR" sz="2400" dirty="0" smtClean="0"/>
              <a:t>EN ETKİLİ YOLU.</a:t>
            </a:r>
            <a:endParaRPr lang="tr-TR" sz="2400" dirty="0" smtClean="0"/>
          </a:p>
          <a:p>
            <a:pPr eaLnBrk="1" hangingPunct="1">
              <a:lnSpc>
                <a:spcPts val="4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tr-TR" sz="2400" dirty="0" smtClean="0"/>
              <a:t>yemek </a:t>
            </a:r>
            <a:r>
              <a:rPr lang="tr-TR" sz="2400" dirty="0" smtClean="0"/>
              <a:t>yemeden veya hazırlamadan önce</a:t>
            </a:r>
          </a:p>
          <a:p>
            <a:pPr eaLnBrk="1" hangingPunct="1">
              <a:lnSpc>
                <a:spcPts val="4000"/>
              </a:lnSpc>
              <a:buFont typeface="Wingdings" pitchFamily="2" charset="2"/>
              <a:buChar char="ü"/>
            </a:pPr>
            <a:r>
              <a:rPr lang="tr-TR" sz="2400" dirty="0" smtClean="0"/>
              <a:t>bitki </a:t>
            </a:r>
            <a:r>
              <a:rPr lang="tr-TR" sz="2400" dirty="0" smtClean="0"/>
              <a:t>ve/veya toprağa dokunduktan sonra</a:t>
            </a:r>
          </a:p>
          <a:p>
            <a:pPr eaLnBrk="1" hangingPunct="1">
              <a:lnSpc>
                <a:spcPts val="4000"/>
              </a:lnSpc>
              <a:buFont typeface="Wingdings" pitchFamily="2" charset="2"/>
              <a:buChar char="ü"/>
            </a:pPr>
            <a:r>
              <a:rPr lang="tr-TR" sz="2400" dirty="0" smtClean="0"/>
              <a:t>dışarıdan </a:t>
            </a:r>
            <a:r>
              <a:rPr lang="tr-TR" sz="2400" dirty="0" smtClean="0"/>
              <a:t>eve geldikten sonra</a:t>
            </a:r>
          </a:p>
          <a:p>
            <a:pPr eaLnBrk="1" hangingPunct="1">
              <a:lnSpc>
                <a:spcPts val="4000"/>
              </a:lnSpc>
              <a:buFont typeface="Wingdings" pitchFamily="2" charset="2"/>
              <a:buChar char="ü"/>
            </a:pPr>
            <a:r>
              <a:rPr lang="tr-TR" sz="2400" dirty="0" smtClean="0"/>
              <a:t>tuvaletten </a:t>
            </a:r>
            <a:r>
              <a:rPr lang="tr-TR" sz="2400" dirty="0" smtClean="0"/>
              <a:t>sonra</a:t>
            </a:r>
          </a:p>
          <a:p>
            <a:pPr eaLnBrk="1" hangingPunct="1">
              <a:lnSpc>
                <a:spcPts val="4000"/>
              </a:lnSpc>
              <a:buFont typeface="Wingdings" pitchFamily="2" charset="2"/>
              <a:buChar char="ü"/>
            </a:pPr>
            <a:r>
              <a:rPr lang="tr-TR" sz="2400" dirty="0" smtClean="0"/>
              <a:t>hayvanlara </a:t>
            </a:r>
            <a:r>
              <a:rPr lang="tr-TR" sz="2400" dirty="0" smtClean="0"/>
              <a:t>temas ettikten sonra</a:t>
            </a:r>
          </a:p>
          <a:p>
            <a:pPr eaLnBrk="1" hangingPunct="1">
              <a:lnSpc>
                <a:spcPts val="4000"/>
              </a:lnSpc>
              <a:buFont typeface="Wingdings" pitchFamily="2" charset="2"/>
              <a:buChar char="ü"/>
            </a:pPr>
            <a:r>
              <a:rPr lang="tr-TR" sz="2400" dirty="0" smtClean="0"/>
              <a:t>bebek </a:t>
            </a:r>
            <a:r>
              <a:rPr lang="tr-TR" sz="2400" dirty="0" smtClean="0"/>
              <a:t>altı değiştirdikten sonra</a:t>
            </a:r>
          </a:p>
          <a:p>
            <a:pPr eaLnBrk="1" hangingPunct="1">
              <a:lnSpc>
                <a:spcPts val="4000"/>
              </a:lnSpc>
              <a:buFont typeface="Wingdings" pitchFamily="2" charset="2"/>
              <a:buChar char="ü"/>
            </a:pPr>
            <a:r>
              <a:rPr lang="tr-TR" sz="2400" dirty="0" smtClean="0"/>
              <a:t>hayvan </a:t>
            </a:r>
            <a:r>
              <a:rPr lang="tr-TR" sz="2400" dirty="0" smtClean="0"/>
              <a:t>veya insan dışkısıyla kirlenmiş </a:t>
            </a:r>
            <a:r>
              <a:rPr lang="tr-TR" sz="2400" dirty="0" smtClean="0"/>
              <a:t>nesnelere temastan </a:t>
            </a:r>
            <a:r>
              <a:rPr lang="tr-TR" sz="2400" dirty="0" smtClean="0"/>
              <a:t>sonra</a:t>
            </a:r>
          </a:p>
          <a:p>
            <a:pPr eaLnBrk="1" hangingPunct="1">
              <a:lnSpc>
                <a:spcPts val="4000"/>
              </a:lnSpc>
              <a:buFont typeface="Wingdings" pitchFamily="2" charset="2"/>
              <a:buNone/>
            </a:pPr>
            <a:r>
              <a:rPr lang="tr-TR" sz="2400" dirty="0" smtClean="0"/>
              <a:t>	</a:t>
            </a:r>
          </a:p>
          <a:p>
            <a:pPr eaLnBrk="1" hangingPunct="1">
              <a:lnSpc>
                <a:spcPts val="4000"/>
              </a:lnSpc>
              <a:buFont typeface="Wingdings" pitchFamily="2" charset="2"/>
              <a:buNone/>
            </a:pPr>
            <a:r>
              <a:rPr lang="tr-TR" sz="2400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smtClean="0"/>
          </a:p>
        </p:txBody>
      </p:sp>
      <p:sp>
        <p:nvSpPr>
          <p:cNvPr id="15363" name="2 İçerik Yer Tutucusu"/>
          <p:cNvSpPr>
            <a:spLocks noGrp="1"/>
          </p:cNvSpPr>
          <p:nvPr>
            <p:ph idx="1"/>
          </p:nvPr>
        </p:nvSpPr>
        <p:spPr>
          <a:xfrm>
            <a:off x="566738" y="1752600"/>
            <a:ext cx="8253412" cy="4267200"/>
          </a:xfrm>
        </p:spPr>
        <p:txBody>
          <a:bodyPr/>
          <a:lstStyle/>
          <a:p>
            <a:pPr>
              <a:lnSpc>
                <a:spcPts val="4000"/>
              </a:lnSpc>
            </a:pPr>
            <a:r>
              <a:rPr lang="tr-TR" sz="2800" dirty="0" smtClean="0"/>
              <a:t>En az 20 sn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Su ve sabunla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Tüm yüzeyler ovalanmalı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Alkollü el temizleme jelleri kullanılabilir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Antibiyotikli sabunlara gerek yok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Eldiven el yıkamanın yerine geçmez!!!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744538"/>
            <a:ext cx="80010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tr-TR" sz="38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EL YIKAMA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smtClean="0">
                <a:solidFill>
                  <a:srgbClr val="FF0000"/>
                </a:solidFill>
              </a:rPr>
              <a:t>SOLUNUM ENFEKSİYONLARINDAN KORUNMA</a:t>
            </a:r>
          </a:p>
        </p:txBody>
      </p:sp>
      <p:sp>
        <p:nvSpPr>
          <p:cNvPr id="16387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4100"/>
              </a:lnSpc>
            </a:pPr>
            <a:r>
              <a:rPr lang="tr-TR" sz="2800" smtClean="0"/>
              <a:t>Sık sık el yıkanmalı/temizlenmeli</a:t>
            </a:r>
          </a:p>
          <a:p>
            <a:pPr>
              <a:lnSpc>
                <a:spcPts val="4100"/>
              </a:lnSpc>
            </a:pPr>
            <a:r>
              <a:rPr lang="tr-TR" sz="2800" smtClean="0"/>
              <a:t>Eller ağız/burun/göze değdirilmemeli</a:t>
            </a:r>
          </a:p>
          <a:p>
            <a:pPr>
              <a:lnSpc>
                <a:spcPts val="4100"/>
              </a:lnSpc>
            </a:pPr>
            <a:r>
              <a:rPr lang="tr-TR" sz="2800" smtClean="0"/>
              <a:t>Kalabalık ortamlardan kaçınmalı</a:t>
            </a:r>
          </a:p>
          <a:p>
            <a:pPr>
              <a:lnSpc>
                <a:spcPts val="4100"/>
              </a:lnSpc>
            </a:pPr>
            <a:r>
              <a:rPr lang="tr-TR" sz="2800" smtClean="0"/>
              <a:t>Nezle/grip olan kişilerden uzak durmalı</a:t>
            </a:r>
          </a:p>
          <a:p>
            <a:pPr>
              <a:lnSpc>
                <a:spcPts val="4100"/>
              </a:lnSpc>
            </a:pPr>
            <a:r>
              <a:rPr lang="tr-TR" sz="2800" smtClean="0"/>
              <a:t>Evde nezle/grip olan kişi maske takmalı, ellerini sık sık temizlemeli.</a:t>
            </a:r>
          </a:p>
          <a:p>
            <a:pPr>
              <a:lnSpc>
                <a:spcPts val="4100"/>
              </a:lnSpc>
            </a:pPr>
            <a:r>
              <a:rPr lang="tr-TR" sz="2800" smtClean="0"/>
              <a:t>Ev halkı ve hasta her yıl grip aşısı olmalı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2 İçerik Yer Tutucusu"/>
          <p:cNvSpPr>
            <a:spLocks noGrp="1"/>
          </p:cNvSpPr>
          <p:nvPr>
            <p:ph idx="1"/>
          </p:nvPr>
        </p:nvSpPr>
        <p:spPr>
          <a:xfrm>
            <a:off x="250825" y="1752600"/>
            <a:ext cx="8713788" cy="4267200"/>
          </a:xfrm>
        </p:spPr>
        <p:txBody>
          <a:bodyPr/>
          <a:lstStyle/>
          <a:p>
            <a:pPr>
              <a:lnSpc>
                <a:spcPts val="4500"/>
              </a:lnSpc>
            </a:pPr>
            <a:r>
              <a:rPr lang="tr-TR" sz="2800" dirty="0" smtClean="0"/>
              <a:t>Toprak ve bitkilerle uğraşmamalı, uğraşılacaksa eldiven ve maske giyilmeli</a:t>
            </a:r>
          </a:p>
          <a:p>
            <a:pPr>
              <a:lnSpc>
                <a:spcPts val="4500"/>
              </a:lnSpc>
            </a:pPr>
            <a:r>
              <a:rPr lang="tr-TR" sz="2800" dirty="0" smtClean="0"/>
              <a:t>Eldiven çıkarılınca eller yıkanmalı</a:t>
            </a:r>
          </a:p>
          <a:p>
            <a:pPr>
              <a:lnSpc>
                <a:spcPts val="4500"/>
              </a:lnSpc>
            </a:pPr>
            <a:r>
              <a:rPr lang="tr-TR" sz="2800" dirty="0" smtClean="0"/>
              <a:t>Toz/parçacık çıkaracak işlemler yapılmamalı</a:t>
            </a:r>
          </a:p>
          <a:p>
            <a:pPr>
              <a:lnSpc>
                <a:spcPts val="4500"/>
              </a:lnSpc>
            </a:pPr>
            <a:r>
              <a:rPr lang="tr-TR" sz="2800" dirty="0" smtClean="0"/>
              <a:t>Tozlu ortamlardan uzak durulmalı</a:t>
            </a:r>
          </a:p>
          <a:p>
            <a:pPr>
              <a:lnSpc>
                <a:spcPts val="4500"/>
              </a:lnSpc>
            </a:pPr>
            <a:r>
              <a:rPr lang="tr-TR" sz="2800" dirty="0" smtClean="0"/>
              <a:t>Sigara içilmemeli sigara dumanından kaçınmalı</a:t>
            </a:r>
          </a:p>
        </p:txBody>
      </p:sp>
      <p:sp>
        <p:nvSpPr>
          <p:cNvPr id="17411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smtClean="0">
                <a:solidFill>
                  <a:srgbClr val="FF0000"/>
                </a:solidFill>
              </a:rPr>
              <a:t>SOLUNUM ENFEKSİYONLARINDAN KORUNMA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HAYVANLARLA TEMAS</a:t>
            </a:r>
          </a:p>
        </p:txBody>
      </p:sp>
      <p:sp>
        <p:nvSpPr>
          <p:cNvPr id="18435" name="2 İçerik Yer Tutucusu"/>
          <p:cNvSpPr>
            <a:spLocks noGrp="1"/>
          </p:cNvSpPr>
          <p:nvPr>
            <p:ph idx="1"/>
          </p:nvPr>
        </p:nvSpPr>
        <p:spPr>
          <a:xfrm>
            <a:off x="251966" y="1556792"/>
            <a:ext cx="8856538" cy="4536082"/>
          </a:xfrm>
        </p:spPr>
        <p:txBody>
          <a:bodyPr>
            <a:normAutofit/>
          </a:bodyPr>
          <a:lstStyle/>
          <a:p>
            <a:pPr>
              <a:lnSpc>
                <a:spcPts val="4500"/>
              </a:lnSpc>
            </a:pPr>
            <a:r>
              <a:rPr lang="tr-TR" sz="2800" dirty="0" smtClean="0"/>
              <a:t>Evde beslenen hayvanı uzaklaştırmaya gerek yok. Veteriner takibi gerekli/yeterli</a:t>
            </a:r>
          </a:p>
          <a:p>
            <a:pPr>
              <a:lnSpc>
                <a:spcPts val="4500"/>
              </a:lnSpc>
            </a:pPr>
            <a:r>
              <a:rPr lang="tr-TR" sz="2800" dirty="0" smtClean="0"/>
              <a:t>Başıboş hayvanlardan uzak durmalı</a:t>
            </a:r>
          </a:p>
          <a:p>
            <a:pPr>
              <a:lnSpc>
                <a:spcPts val="4500"/>
              </a:lnSpc>
            </a:pPr>
            <a:r>
              <a:rPr lang="tr-TR" sz="2800" dirty="0" smtClean="0"/>
              <a:t>Hasta veya küçük hayvanlara dokunmamalı</a:t>
            </a:r>
          </a:p>
          <a:p>
            <a:pPr>
              <a:lnSpc>
                <a:spcPts val="4500"/>
              </a:lnSpc>
            </a:pPr>
            <a:r>
              <a:rPr lang="tr-TR" sz="2800" dirty="0" smtClean="0"/>
              <a:t>Sürüngen beslenmemeli, sürüngenlerin beslendiği çevreden uzak durulmalı</a:t>
            </a:r>
          </a:p>
          <a:p>
            <a:pPr>
              <a:lnSpc>
                <a:spcPts val="4500"/>
              </a:lnSpc>
            </a:pPr>
            <a:r>
              <a:rPr lang="tr-TR" sz="2800" dirty="0" smtClean="0"/>
              <a:t>Ördek yavrusu veya civciv beslenmemeli</a:t>
            </a:r>
          </a:p>
          <a:p>
            <a:pPr>
              <a:lnSpc>
                <a:spcPts val="4500"/>
              </a:lnSpc>
              <a:buNone/>
            </a:pPr>
            <a:endParaRPr lang="tr-T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2 İçerik Yer Tutucusu"/>
          <p:cNvSpPr>
            <a:spLocks noGrp="1"/>
          </p:cNvSpPr>
          <p:nvPr>
            <p:ph idx="1"/>
          </p:nvPr>
        </p:nvSpPr>
        <p:spPr>
          <a:xfrm>
            <a:off x="250825" y="1752600"/>
            <a:ext cx="8785225" cy="4267200"/>
          </a:xfrm>
        </p:spPr>
        <p:txBody>
          <a:bodyPr/>
          <a:lstStyle/>
          <a:p>
            <a:pPr>
              <a:lnSpc>
                <a:spcPts val="4400"/>
              </a:lnSpc>
            </a:pPr>
            <a:r>
              <a:rPr lang="tr-TR" sz="2800" dirty="0" smtClean="0"/>
              <a:t>Hayvan dışkısıyla temas edilmemeli</a:t>
            </a:r>
          </a:p>
          <a:p>
            <a:pPr>
              <a:lnSpc>
                <a:spcPts val="4400"/>
              </a:lnSpc>
            </a:pPr>
            <a:r>
              <a:rPr lang="tr-TR" sz="2800" dirty="0" smtClean="0"/>
              <a:t>Hayvan kafesi, sepeti, akvaryumu başka biri temizlemeli</a:t>
            </a:r>
          </a:p>
          <a:p>
            <a:pPr>
              <a:lnSpc>
                <a:spcPts val="4400"/>
              </a:lnSpc>
            </a:pPr>
            <a:r>
              <a:rPr lang="tr-TR" sz="2800" dirty="0" smtClean="0"/>
              <a:t>İshal olan hayvana ve etrafa dokunulmamalı</a:t>
            </a:r>
          </a:p>
          <a:p>
            <a:pPr>
              <a:lnSpc>
                <a:spcPts val="4400"/>
              </a:lnSpc>
            </a:pPr>
            <a:r>
              <a:rPr lang="tr-TR" sz="2800" dirty="0" smtClean="0"/>
              <a:t>Kedi ve kuşların altı her gün değiştirilmeli (bir başka kişi eldiven giyerek yapmalı) </a:t>
            </a:r>
          </a:p>
          <a:p>
            <a:pPr>
              <a:lnSpc>
                <a:spcPts val="4400"/>
              </a:lnSpc>
            </a:pPr>
            <a:endParaRPr lang="tr-TR" sz="2800" dirty="0" smtClean="0"/>
          </a:p>
        </p:txBody>
      </p:sp>
      <p:sp>
        <p:nvSpPr>
          <p:cNvPr id="19459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>
                <a:solidFill>
                  <a:srgbClr val="FF0000"/>
                </a:solidFill>
              </a:rPr>
              <a:t>HAYVANLARLA TEMAS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>
                <a:solidFill>
                  <a:srgbClr val="FF0000"/>
                </a:solidFill>
              </a:rPr>
              <a:t>SU VE YİYECEK TEMİZLİĞİ</a:t>
            </a:r>
          </a:p>
        </p:txBody>
      </p:sp>
      <p:sp>
        <p:nvSpPr>
          <p:cNvPr id="20483" name="2 İçerik Yer Tutucusu"/>
          <p:cNvSpPr>
            <a:spLocks noGrp="1"/>
          </p:cNvSpPr>
          <p:nvPr>
            <p:ph idx="1"/>
          </p:nvPr>
        </p:nvSpPr>
        <p:spPr>
          <a:xfrm>
            <a:off x="395288" y="1340768"/>
            <a:ext cx="8569325" cy="5256583"/>
          </a:xfrm>
        </p:spPr>
        <p:txBody>
          <a:bodyPr>
            <a:normAutofit/>
          </a:bodyPr>
          <a:lstStyle/>
          <a:p>
            <a:pPr>
              <a:lnSpc>
                <a:spcPts val="3900"/>
              </a:lnSpc>
            </a:pPr>
            <a:r>
              <a:rPr lang="tr-TR" sz="2800" dirty="0" smtClean="0"/>
              <a:t>Tatlı suda yüzme, yürüyüş vb yapılmamalı</a:t>
            </a:r>
          </a:p>
          <a:p>
            <a:pPr>
              <a:lnSpc>
                <a:spcPts val="3900"/>
              </a:lnSpc>
            </a:pPr>
            <a:r>
              <a:rPr lang="tr-TR" sz="2800" dirty="0" smtClean="0"/>
              <a:t>Deniz/havuzda yüzerken su yutulmamalı</a:t>
            </a:r>
          </a:p>
          <a:p>
            <a:pPr>
              <a:lnSpc>
                <a:spcPts val="3900"/>
              </a:lnSpc>
            </a:pPr>
            <a:r>
              <a:rPr lang="tr-TR" sz="2800" dirty="0" smtClean="0"/>
              <a:t>Kuyu suyu, kaynağı bilinmeyen su içilmemeli, kullanılmamalı</a:t>
            </a:r>
          </a:p>
          <a:p>
            <a:pPr>
              <a:lnSpc>
                <a:spcPts val="3900"/>
              </a:lnSpc>
            </a:pPr>
            <a:r>
              <a:rPr lang="tr-TR" sz="2800" dirty="0" smtClean="0"/>
              <a:t>Musluk suyu kullanılabilir</a:t>
            </a:r>
          </a:p>
          <a:p>
            <a:pPr>
              <a:lnSpc>
                <a:spcPts val="3900"/>
              </a:lnSpc>
            </a:pPr>
            <a:r>
              <a:rPr lang="tr-TR" sz="2800" dirty="0" smtClean="0"/>
              <a:t>&gt;1 </a:t>
            </a:r>
            <a:r>
              <a:rPr lang="tr-TR" sz="2800" dirty="0" err="1" smtClean="0"/>
              <a:t>dk</a:t>
            </a:r>
            <a:r>
              <a:rPr lang="tr-TR" sz="2800" dirty="0" smtClean="0"/>
              <a:t> kaynatılan su tamamen güvenilirdir.</a:t>
            </a:r>
          </a:p>
          <a:p>
            <a:pPr>
              <a:lnSpc>
                <a:spcPts val="3900"/>
              </a:lnSpc>
            </a:pPr>
            <a:r>
              <a:rPr lang="tr-TR" sz="2800" dirty="0" smtClean="0"/>
              <a:t>Buz, konsantre meyve suyu tüketilmemeli</a:t>
            </a:r>
          </a:p>
          <a:p>
            <a:pPr>
              <a:lnSpc>
                <a:spcPts val="3900"/>
              </a:lnSpc>
            </a:pPr>
            <a:r>
              <a:rPr lang="tr-TR" sz="2800" dirty="0" smtClean="0"/>
              <a:t>Gazlı içecekler, oda ısısında saklanabilen meyve suları güvenilir.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1 Başlık"/>
          <p:cNvSpPr>
            <a:spLocks noGrp="1"/>
          </p:cNvSpPr>
          <p:nvPr>
            <p:ph type="title"/>
          </p:nvPr>
        </p:nvSpPr>
        <p:spPr>
          <a:xfrm>
            <a:off x="611188" y="188913"/>
            <a:ext cx="8001000" cy="1216025"/>
          </a:xfrm>
        </p:spPr>
        <p:txBody>
          <a:bodyPr/>
          <a:lstStyle/>
          <a:p>
            <a:r>
              <a:rPr lang="tr-TR" smtClean="0">
                <a:solidFill>
                  <a:srgbClr val="FF0000"/>
                </a:solidFill>
              </a:rPr>
              <a:t>Yemek Hazırlığı</a:t>
            </a:r>
          </a:p>
        </p:txBody>
      </p:sp>
      <p:sp>
        <p:nvSpPr>
          <p:cNvPr id="21507" name="2 İçerik Yer Tutucusu"/>
          <p:cNvSpPr>
            <a:spLocks noGrp="1"/>
          </p:cNvSpPr>
          <p:nvPr>
            <p:ph idx="1"/>
          </p:nvPr>
        </p:nvSpPr>
        <p:spPr>
          <a:xfrm>
            <a:off x="179388" y="1752600"/>
            <a:ext cx="8713787" cy="4267200"/>
          </a:xfrm>
        </p:spPr>
        <p:txBody>
          <a:bodyPr/>
          <a:lstStyle/>
          <a:p>
            <a:pPr>
              <a:lnSpc>
                <a:spcPts val="4200"/>
              </a:lnSpc>
            </a:pPr>
            <a:r>
              <a:rPr lang="tr-TR" sz="2800" dirty="0" smtClean="0"/>
              <a:t>Yemek hazırlamadan önce eller yıkanmalı</a:t>
            </a:r>
          </a:p>
          <a:p>
            <a:pPr>
              <a:lnSpc>
                <a:spcPts val="4200"/>
              </a:lnSpc>
            </a:pPr>
            <a:r>
              <a:rPr lang="tr-TR" sz="2800" dirty="0" smtClean="0"/>
              <a:t>Et/tavuk/balık için farklı bıçak ve tahta kullanılmalı</a:t>
            </a:r>
          </a:p>
          <a:p>
            <a:pPr>
              <a:lnSpc>
                <a:spcPts val="4200"/>
              </a:lnSpc>
            </a:pPr>
            <a:r>
              <a:rPr lang="tr-TR" sz="2800" dirty="0" smtClean="0"/>
              <a:t>Diğer gıdalar çiğ et/tavuk/balığa temas etmemeli</a:t>
            </a:r>
          </a:p>
          <a:p>
            <a:pPr>
              <a:lnSpc>
                <a:spcPts val="4200"/>
              </a:lnSpc>
            </a:pPr>
            <a:r>
              <a:rPr lang="tr-TR" sz="2800" dirty="0" smtClean="0"/>
              <a:t>Mutfaktaki tüm alet ve örtüler temiz olmalı</a:t>
            </a:r>
          </a:p>
          <a:p>
            <a:pPr>
              <a:lnSpc>
                <a:spcPts val="4200"/>
              </a:lnSpc>
            </a:pPr>
            <a:r>
              <a:rPr lang="tr-TR" sz="2800" dirty="0" smtClean="0"/>
              <a:t>Kirlenen aletler sıcak su sabunla yıkanmalı</a:t>
            </a:r>
          </a:p>
          <a:p>
            <a:pPr>
              <a:lnSpc>
                <a:spcPts val="4200"/>
              </a:lnSpc>
            </a:pPr>
            <a:endParaRPr lang="tr-TR" sz="2800" dirty="0" smtClean="0"/>
          </a:p>
          <a:p>
            <a:pPr>
              <a:lnSpc>
                <a:spcPts val="4200"/>
              </a:lnSpc>
            </a:pPr>
            <a:endParaRPr lang="tr-T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2 İçerik Yer Tutucusu"/>
          <p:cNvSpPr>
            <a:spLocks noGrp="1"/>
          </p:cNvSpPr>
          <p:nvPr>
            <p:ph idx="1"/>
          </p:nvPr>
        </p:nvSpPr>
        <p:spPr>
          <a:xfrm>
            <a:off x="107950" y="1484784"/>
            <a:ext cx="8928100" cy="5184576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</a:pPr>
            <a:r>
              <a:rPr lang="tr-TR" sz="2800" dirty="0" smtClean="0"/>
              <a:t>Az pişmiş/çiğ et/tavuk/balık yenmemeli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Bu ürünlerin iç </a:t>
            </a:r>
            <a:r>
              <a:rPr lang="tr-TR" sz="2800" dirty="0" smtClean="0"/>
              <a:t>ısısı;  et: 66</a:t>
            </a:r>
            <a:r>
              <a:rPr lang="tr-TR" sz="2800" baseline="30000" dirty="0" smtClean="0"/>
              <a:t>o</a:t>
            </a:r>
            <a:r>
              <a:rPr lang="tr-TR" sz="2800" dirty="0" smtClean="0"/>
              <a:t>C,  tavuk: 82</a:t>
            </a:r>
            <a:r>
              <a:rPr lang="tr-TR" sz="2800" baseline="30000" dirty="0" smtClean="0"/>
              <a:t>o</a:t>
            </a:r>
            <a:r>
              <a:rPr lang="tr-TR" sz="2800" dirty="0" smtClean="0"/>
              <a:t>C </a:t>
            </a:r>
            <a:r>
              <a:rPr lang="tr-TR" sz="2800" dirty="0" smtClean="0"/>
              <a:t>olmalı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Çiğ yumurta içeren gıdalar yenmemeli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Rafadan yumurta yenmemeli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&gt;2 saat dışarıda kalan yiyecekler atılmalı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Sokakta satılan yiyecekler tüketilmemeli</a:t>
            </a:r>
          </a:p>
          <a:p>
            <a:pPr>
              <a:lnSpc>
                <a:spcPts val="4000"/>
              </a:lnSpc>
            </a:pPr>
            <a:r>
              <a:rPr lang="tr-TR" sz="2800" dirty="0" smtClean="0"/>
              <a:t>Sebze ve meyve bolca yıkanmalı ve mümkünse soyularak yenmeli</a:t>
            </a:r>
          </a:p>
          <a:p>
            <a:pPr>
              <a:lnSpc>
                <a:spcPts val="4000"/>
              </a:lnSpc>
            </a:pPr>
            <a:endParaRPr lang="tr-TR" sz="2800" dirty="0" smtClean="0"/>
          </a:p>
          <a:p>
            <a:pPr>
              <a:lnSpc>
                <a:spcPts val="4000"/>
              </a:lnSpc>
            </a:pPr>
            <a:endParaRPr lang="tr-TR" sz="2800" dirty="0" smtClean="0"/>
          </a:p>
          <a:p>
            <a:pPr>
              <a:lnSpc>
                <a:spcPts val="4000"/>
              </a:lnSpc>
            </a:pPr>
            <a:endParaRPr lang="tr-TR" sz="2800" dirty="0" smtClean="0"/>
          </a:p>
        </p:txBody>
      </p:sp>
      <p:sp>
        <p:nvSpPr>
          <p:cNvPr id="22531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>
                <a:solidFill>
                  <a:srgbClr val="FF0000"/>
                </a:solidFill>
              </a:rPr>
              <a:t>SU VE YİYECEK TEMİZLİĞİ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3 Metin kutusu"/>
          <p:cNvSpPr txBox="1">
            <a:spLocks noChangeArrowheads="1"/>
          </p:cNvSpPr>
          <p:nvPr/>
        </p:nvSpPr>
        <p:spPr bwMode="auto">
          <a:xfrm>
            <a:off x="684213" y="620713"/>
            <a:ext cx="40274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3200">
                <a:solidFill>
                  <a:srgbClr val="FF0000"/>
                </a:solidFill>
              </a:rPr>
              <a:t>BİTKİSEL İLAÇLAR</a:t>
            </a:r>
          </a:p>
        </p:txBody>
      </p:sp>
      <p:sp>
        <p:nvSpPr>
          <p:cNvPr id="23555" name="4 Metin kutusu"/>
          <p:cNvSpPr txBox="1">
            <a:spLocks noChangeArrowheads="1"/>
          </p:cNvSpPr>
          <p:nvPr/>
        </p:nvSpPr>
        <p:spPr bwMode="auto">
          <a:xfrm>
            <a:off x="395288" y="2276475"/>
            <a:ext cx="796448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800"/>
              <a:t>Probiyotikler ve bitkisel ilaçlar,</a:t>
            </a:r>
          </a:p>
          <a:p>
            <a:pPr>
              <a:lnSpc>
                <a:spcPct val="150000"/>
              </a:lnSpc>
            </a:pPr>
            <a:r>
              <a:rPr lang="tr-TR" sz="2800"/>
              <a:t>mantar enfeksiyonu açısından risk taşırlar. </a:t>
            </a:r>
          </a:p>
          <a:p>
            <a:pPr>
              <a:lnSpc>
                <a:spcPct val="150000"/>
              </a:lnSpc>
            </a:pPr>
            <a:r>
              <a:rPr lang="tr-TR" sz="2800"/>
              <a:t>Mutlaka Dr gözetiminde kullanılmalıdır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 Metin kutusu"/>
          <p:cNvSpPr txBox="1">
            <a:spLocks noChangeArrowheads="1"/>
          </p:cNvSpPr>
          <p:nvPr/>
        </p:nvSpPr>
        <p:spPr bwMode="auto">
          <a:xfrm>
            <a:off x="611560" y="404664"/>
            <a:ext cx="17145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FF0000"/>
                </a:solidFill>
              </a:rPr>
              <a:t>AŞILAR</a:t>
            </a:r>
          </a:p>
        </p:txBody>
      </p:sp>
      <p:sp>
        <p:nvSpPr>
          <p:cNvPr id="3" name="2 Metin kutusu"/>
          <p:cNvSpPr txBox="1"/>
          <p:nvPr/>
        </p:nvSpPr>
        <p:spPr>
          <a:xfrm>
            <a:off x="323528" y="1124744"/>
            <a:ext cx="6291466" cy="21441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000"/>
              </a:lnSpc>
            </a:pPr>
            <a:r>
              <a:rPr lang="tr-TR" sz="2400" dirty="0" smtClean="0">
                <a:solidFill>
                  <a:srgbClr val="FF0000"/>
                </a:solidFill>
              </a:rPr>
              <a:t>GRİP (İNFLUENZA)</a:t>
            </a:r>
          </a:p>
          <a:p>
            <a:pPr>
              <a:lnSpc>
                <a:spcPts val="4000"/>
              </a:lnSpc>
            </a:pPr>
            <a:r>
              <a:rPr lang="tr-TR" sz="2400" dirty="0" smtClean="0"/>
              <a:t>Yumurta alerjisi yok ise güvenle aşı yapılabilir.</a:t>
            </a:r>
          </a:p>
          <a:p>
            <a:pPr>
              <a:lnSpc>
                <a:spcPts val="4000"/>
              </a:lnSpc>
            </a:pPr>
            <a:r>
              <a:rPr lang="tr-TR" sz="2400" dirty="0" smtClean="0"/>
              <a:t>Her sezon başlangıcında </a:t>
            </a:r>
            <a:r>
              <a:rPr lang="tr-TR" sz="2400" dirty="0" err="1" smtClean="0"/>
              <a:t>influenza</a:t>
            </a:r>
            <a:r>
              <a:rPr lang="tr-TR" sz="2400" dirty="0" smtClean="0"/>
              <a:t> aşısı olunmalı. </a:t>
            </a:r>
          </a:p>
          <a:p>
            <a:pPr>
              <a:lnSpc>
                <a:spcPts val="4000"/>
              </a:lnSpc>
            </a:pPr>
            <a:r>
              <a:rPr lang="tr-TR" sz="2400" dirty="0" smtClean="0"/>
              <a:t>Aynı evde yaşayan kişiler de aşılanmalı.</a:t>
            </a:r>
            <a:endParaRPr lang="tr-TR" sz="2400" dirty="0"/>
          </a:p>
        </p:txBody>
      </p:sp>
      <p:sp>
        <p:nvSpPr>
          <p:cNvPr id="4" name="3 Metin kutusu"/>
          <p:cNvSpPr txBox="1"/>
          <p:nvPr/>
        </p:nvSpPr>
        <p:spPr>
          <a:xfrm>
            <a:off x="399519" y="3717032"/>
            <a:ext cx="467653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000"/>
              </a:lnSpc>
            </a:pPr>
            <a:r>
              <a:rPr lang="tr-TR" sz="2400" dirty="0" smtClean="0">
                <a:solidFill>
                  <a:srgbClr val="FF0000"/>
                </a:solidFill>
              </a:rPr>
              <a:t>ZATÜRRE (PNÖMOKOK)</a:t>
            </a:r>
          </a:p>
          <a:p>
            <a:pPr>
              <a:lnSpc>
                <a:spcPts val="4000"/>
              </a:lnSpc>
            </a:pPr>
            <a:r>
              <a:rPr lang="tr-TR" sz="2400" dirty="0" smtClean="0"/>
              <a:t>Güvenli bir aşı</a:t>
            </a:r>
          </a:p>
          <a:p>
            <a:pPr>
              <a:lnSpc>
                <a:spcPts val="4000"/>
              </a:lnSpc>
            </a:pPr>
            <a:r>
              <a:rPr lang="tr-TR" sz="2400" dirty="0" smtClean="0"/>
              <a:t>Beş yıl arayla iki doz olarak yapılmalı</a:t>
            </a:r>
            <a:endParaRPr lang="tr-T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124744"/>
            <a:ext cx="8964488" cy="4984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6 Metin kutusu"/>
          <p:cNvSpPr txBox="1">
            <a:spLocks noChangeArrowheads="1"/>
          </p:cNvSpPr>
          <p:nvPr/>
        </p:nvSpPr>
        <p:spPr bwMode="auto">
          <a:xfrm>
            <a:off x="467544" y="404664"/>
            <a:ext cx="17145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FF0000"/>
                </a:solidFill>
              </a:rPr>
              <a:t>AŞILAR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3 Resim" descr="Tulips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Metin kutusu"/>
          <p:cNvSpPr txBox="1"/>
          <p:nvPr/>
        </p:nvSpPr>
        <p:spPr>
          <a:xfrm>
            <a:off x="179512" y="18864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SAĞLIKLI GÜNLER DİLEĞİYLE…..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424</Words>
  <Application>Microsoft Office PowerPoint</Application>
  <PresentationFormat>Ekran Gösterisi (4:3)</PresentationFormat>
  <Paragraphs>88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5" baseType="lpstr">
      <vt:lpstr>Ofis Teması</vt:lpstr>
      <vt:lpstr> ENFEKSİYONLARDAN KORUNMA</vt:lpstr>
      <vt:lpstr>EL YIKAMA</vt:lpstr>
      <vt:lpstr>Slayt 3</vt:lpstr>
      <vt:lpstr>SOLUNUM ENFEKSİYONLARINDAN KORUNMA</vt:lpstr>
      <vt:lpstr>SOLUNUM ENFEKSİYONLARINDAN KORUNMA</vt:lpstr>
      <vt:lpstr>HAYVANLARLA TEMAS</vt:lpstr>
      <vt:lpstr>HAYVANLARLA TEMAS</vt:lpstr>
      <vt:lpstr>SU VE YİYECEK TEMİZLİĞİ</vt:lpstr>
      <vt:lpstr>Yemek Hazırlığı</vt:lpstr>
      <vt:lpstr>SU VE YİYECEK TEMİZLİĞİ</vt:lpstr>
      <vt:lpstr>Slayt 11</vt:lpstr>
      <vt:lpstr>Slayt 12</vt:lpstr>
      <vt:lpstr>Slayt 13</vt:lpstr>
      <vt:lpstr>Slayt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user</dc:creator>
  <cp:lastModifiedBy>user</cp:lastModifiedBy>
  <cp:revision>3</cp:revision>
  <dcterms:created xsi:type="dcterms:W3CDTF">2012-05-18T09:47:36Z</dcterms:created>
  <dcterms:modified xsi:type="dcterms:W3CDTF">2012-05-18T10:11:37Z</dcterms:modified>
</cp:coreProperties>
</file>